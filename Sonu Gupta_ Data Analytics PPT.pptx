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0" r:id="rId10"/>
    <p:sldId id="266" r:id="rId11"/>
    <p:sldId id="261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7721" y="466470"/>
            <a:ext cx="5988557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3683" y="2199259"/>
            <a:ext cx="6447155" cy="24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79281" y="6464680"/>
            <a:ext cx="1663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2352" y="210692"/>
            <a:ext cx="2007235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Summer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Training</a:t>
            </a:r>
            <a:endParaRPr sz="2200" dirty="0">
              <a:latin typeface="Calibri"/>
              <a:cs typeface="Calibri"/>
            </a:endParaRPr>
          </a:p>
          <a:p>
            <a:pPr marL="57785" algn="ctr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latin typeface="Calibri"/>
                <a:cs typeface="Calibri"/>
              </a:rPr>
              <a:t>Presentation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7586" y="2743326"/>
            <a:ext cx="1757426" cy="1371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9323" y="4894326"/>
            <a:ext cx="218287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Submitted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To: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ANJU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JANGID HOD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(MENTOR)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6133712" y="4894326"/>
            <a:ext cx="20554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Calibri"/>
                <a:cs typeface="Calibri"/>
              </a:rPr>
              <a:t>    </a:t>
            </a:r>
            <a:r>
              <a:rPr sz="2400" b="1" dirty="0">
                <a:latin typeface="Calibri"/>
                <a:cs typeface="Calibri"/>
              </a:rPr>
              <a:t>Submitted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r>
              <a:rPr lang="en-IN" sz="2400" b="1" spc="-25" dirty="0">
                <a:latin typeface="Calibri"/>
                <a:cs typeface="Calibri"/>
              </a:rPr>
              <a:t>:</a:t>
            </a:r>
            <a:endParaRPr lang="en-IN" sz="2400" dirty="0">
              <a:latin typeface="Calibri"/>
              <a:cs typeface="Calibri"/>
            </a:endParaRPr>
          </a:p>
          <a:p>
            <a:pPr marL="318135" marR="5080" indent="13335">
              <a:lnSpc>
                <a:spcPct val="100000"/>
              </a:lnSpc>
              <a:spcBef>
                <a:spcPts val="3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 GUPTA</a:t>
            </a:r>
            <a:r>
              <a:rPr lang="en-IN"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C2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717673" y="772922"/>
            <a:ext cx="4010660" cy="12302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3380" algn="ctr">
              <a:lnSpc>
                <a:spcPct val="1127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Data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lang="en-IN" sz="3600" b="1" spc="-10" dirty="0"/>
              <a:t>Analytics</a:t>
            </a:r>
            <a:r>
              <a:rPr sz="3600" b="1" spc="-10" dirty="0">
                <a:latin typeface="Calibri"/>
                <a:cs typeface="Calibri"/>
              </a:rPr>
              <a:t> </a:t>
            </a:r>
            <a:br>
              <a:rPr lang="en-IN" sz="3600" b="1" spc="-10" dirty="0"/>
            </a:br>
            <a:r>
              <a:rPr lang="en-IN" sz="3600" b="1" spc="-10" dirty="0" err="1"/>
              <a:t>InoBux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5061" y="4268470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Session</a:t>
            </a:r>
            <a:r>
              <a:rPr sz="1800" b="1" spc="-10" dirty="0">
                <a:latin typeface="Calibri"/>
                <a:cs typeface="Calibri"/>
              </a:rPr>
              <a:t> 2025-</a:t>
            </a:r>
            <a:r>
              <a:rPr sz="1800" b="1" spc="-25" dirty="0">
                <a:latin typeface="Calibri"/>
                <a:cs typeface="Calibri"/>
              </a:rPr>
              <a:t>26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5673" y="2103745"/>
            <a:ext cx="5306060" cy="63563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4305" algn="ctr">
              <a:lnSpc>
                <a:spcPct val="100000"/>
              </a:lnSpc>
              <a:spcBef>
                <a:spcPts val="310"/>
              </a:spcBef>
            </a:pPr>
            <a:r>
              <a:rPr sz="1600" b="1" dirty="0">
                <a:latin typeface="Calibri"/>
                <a:cs typeface="Calibri"/>
              </a:rPr>
              <a:t>III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B.TECH.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VI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SEMESTER</a:t>
            </a:r>
            <a:endParaRPr sz="16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270"/>
              </a:spcBef>
            </a:pPr>
            <a:r>
              <a:rPr sz="2000" b="1" dirty="0">
                <a:latin typeface="Calibri"/>
                <a:cs typeface="Calibri"/>
              </a:rPr>
              <a:t>Department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Computer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Science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Engineering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7404" y="421893"/>
            <a:ext cx="4950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Introduction/</a:t>
            </a:r>
            <a:r>
              <a:rPr sz="2800" spc="-25" dirty="0"/>
              <a:t> </a:t>
            </a:r>
            <a:r>
              <a:rPr sz="2800" dirty="0"/>
              <a:t>Training</a:t>
            </a:r>
            <a:r>
              <a:rPr sz="2800" spc="-55" dirty="0"/>
              <a:t> </a:t>
            </a:r>
            <a:r>
              <a:rPr sz="2800" spc="-10" dirty="0"/>
              <a:t>Description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9740" y="1077402"/>
            <a:ext cx="8224520" cy="4443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Company: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lang="en-IN" spc="-45" dirty="0" err="1">
                <a:latin typeface="Times New Roman"/>
                <a:cs typeface="Times New Roman"/>
              </a:rPr>
              <a:t>InoBux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Pvt.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Ltd.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800" b="1" dirty="0">
                <a:latin typeface="Times New Roman"/>
                <a:cs typeface="Times New Roman"/>
              </a:rPr>
              <a:t>Mode: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lang="en-IN" sz="1800" dirty="0" err="1">
                <a:latin typeface="Times New Roman"/>
                <a:cs typeface="Times New Roman"/>
              </a:rPr>
              <a:t>ffline</a:t>
            </a:r>
            <a:endParaRPr sz="1800" dirty="0">
              <a:latin typeface="Times New Roman"/>
              <a:cs typeface="Times New Roman"/>
            </a:endParaRP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Training: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Internship Program focused on developing analytical,</a:t>
            </a: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visualization, and business intelligence skills through practical assignments and real</a:t>
            </a: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datasets.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Objective: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practical Data Analytics skills and gain hands-on experience in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analysis, visualization, and business reporting for data-driven decision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making.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Domain</a:t>
            </a:r>
            <a:r>
              <a:rPr sz="1800" b="1" spc="4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4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Tools:</a:t>
            </a:r>
            <a:r>
              <a:rPr lang="en-IN" b="1" spc="47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Excel, SQL, Python, Power BI, Data Visualization,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Intelligence, Statistical Analysis</a:t>
            </a:r>
            <a:r>
              <a:rPr lang="en-IN" dirty="0"/>
              <a:t>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371" y="5608864"/>
            <a:ext cx="8094981" cy="123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Outcomes: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project experience, industry exposure, dashboard development</a:t>
            </a: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business insight generation, and Certificate of Completion.</a:t>
            </a: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sz="1800" b="1" dirty="0">
                <a:latin typeface="Times New Roman"/>
                <a:cs typeface="Times New Roman"/>
              </a:rPr>
              <a:t>Duration: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lang="en-IN" sz="1800" dirty="0">
                <a:latin typeface="Times New Roman"/>
                <a:cs typeface="Times New Roman"/>
              </a:rPr>
              <a:t>1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2026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Times New Roman"/>
                <a:cs typeface="Times New Roman"/>
              </a:rPr>
              <a:t>30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lang="en-IN" spc="-15" dirty="0">
                <a:latin typeface="Times New Roman"/>
                <a:cs typeface="Times New Roman"/>
              </a:rPr>
              <a:t>May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2026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7586E-6446-9B41-ED7B-D8EA45A5D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968110"/>
            <a:ext cx="1785253" cy="949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15191" y="496147"/>
            <a:ext cx="3729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37110"/>
            <a:ext cx="7972425" cy="5932393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85" indent="-8255">
              <a:lnSpc>
                <a:spcPct val="150000"/>
              </a:lnSpc>
              <a:spcBef>
                <a:spcPts val="5"/>
              </a:spcBef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Learned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variables,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types,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operators,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loops,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20" indent="-79375">
              <a:lnSpc>
                <a:spcPct val="100000"/>
              </a:lnSpc>
              <a:spcBef>
                <a:spcPts val="960"/>
              </a:spcBef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</a:t>
            </a:r>
            <a:r>
              <a:rPr sz="16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6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  <a:r>
              <a:rPr sz="16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6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sz="16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dictionaries,</a:t>
            </a:r>
            <a:r>
              <a:rPr sz="16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indexing,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slicing,</a:t>
            </a:r>
            <a:r>
              <a:rPr sz="16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20" indent="-79375">
              <a:lnSpc>
                <a:spcPct val="100000"/>
              </a:lnSpc>
              <a:spcBef>
                <a:spcPts val="960"/>
              </a:spcBef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for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-8255">
              <a:lnSpc>
                <a:spcPct val="150000"/>
              </a:lnSpc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Learned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head(),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info(),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describe().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185" indent="-79375">
              <a:lnSpc>
                <a:spcPct val="100000"/>
              </a:lnSpc>
              <a:spcBef>
                <a:spcPts val="960"/>
              </a:spcBef>
              <a:buSzPct val="93750"/>
              <a:buChar char="•"/>
              <a:tabLst>
                <a:tab pos="8318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16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6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sz="16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sz="16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16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16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</a:t>
            </a:r>
            <a:r>
              <a:rPr sz="16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</a:t>
            </a:r>
            <a:r>
              <a:rPr sz="16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duplicates,</a:t>
            </a:r>
            <a:r>
              <a:rPr sz="16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20" indent="-79375">
              <a:lnSpc>
                <a:spcPct val="100000"/>
              </a:lnSpc>
              <a:spcBef>
                <a:spcPts val="960"/>
              </a:spcBef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filtering,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grouping,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aggregation,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20" indent="-79375">
              <a:lnSpc>
                <a:spcPct val="100000"/>
              </a:lnSpc>
              <a:spcBef>
                <a:spcPts val="960"/>
              </a:spcBef>
              <a:buSzPct val="93750"/>
              <a:buChar char="•"/>
              <a:tabLst>
                <a:tab pos="8382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sz="1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85">
              <a:lnSpc>
                <a:spcPct val="150000"/>
              </a:lnSpc>
            </a:pPr>
            <a:endParaRPr lang="en-IN" sz="1600" b="1" dirty="0">
              <a:latin typeface="Times New Roman"/>
              <a:cs typeface="Times New Roman"/>
            </a:endParaRPr>
          </a:p>
          <a:p>
            <a:pPr marL="12700" marR="6985">
              <a:lnSpc>
                <a:spcPct val="150000"/>
              </a:lnSpc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Outcome:</a:t>
            </a:r>
            <a:r>
              <a:rPr sz="1600" b="1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Developed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strong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foundation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Python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programming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preprocessing,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essential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skills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Analytics.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 descr="Download the Python Logo and Icon for Your Project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5985" y="285489"/>
            <a:ext cx="1353296" cy="12385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A9D509-EF94-295F-5FEF-D95C5469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63E171E-CCAB-C943-D772-91411EC88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5191" y="496147"/>
            <a:ext cx="3729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DD4252-D802-BC66-23C3-48584D9F693A}"/>
              </a:ext>
            </a:extLst>
          </p:cNvPr>
          <p:cNvSpPr txBox="1"/>
          <p:nvPr/>
        </p:nvSpPr>
        <p:spPr>
          <a:xfrm>
            <a:off x="535940" y="937110"/>
            <a:ext cx="7972425" cy="5896486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Learned Microsoft Excel fundamentals for data analysis and business reporting.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Worked with datasets containing sales, customer, product, and regional information.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Excel formulas and functions for calculations, data validation, and business analysis.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Pivot Tables to summarize sales, profit, and quantity data across different categories.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 by product category, region, and time period using Pivot Tables.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Pivot Charts for visual representation of business insights.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Gained understanding of data visualization principles for effective decision-making.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a hands-on project involving sales analysis and dashboard creation using Excel.</a:t>
            </a:r>
          </a:p>
          <a:p>
            <a:pPr marL="12700" marR="6985">
              <a:lnSpc>
                <a:spcPct val="150000"/>
              </a:lnSpc>
            </a:pPr>
            <a:endParaRPr lang="en-IN" sz="1600" b="1" dirty="0">
              <a:latin typeface="Times New Roman"/>
              <a:cs typeface="Times New Roman"/>
            </a:endParaRPr>
          </a:p>
          <a:p>
            <a:pPr marL="12700" marR="6985">
              <a:lnSpc>
                <a:spcPct val="150000"/>
              </a:lnSpc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Outcome:</a:t>
            </a:r>
            <a:r>
              <a:rPr sz="1600" b="1" spc="6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practical skills in Excel-based data analysis, Pivot Tables, Pivot Charts, dashboard development, and business reporting, which are essential for Data Engineering and Data Analytics.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C6F547-F62A-E151-77A7-B462B9BD804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936F8-8162-F604-5FB3-5311AAB30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28600"/>
            <a:ext cx="1501290" cy="15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0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7721" y="466470"/>
            <a:ext cx="5988557" cy="557589"/>
          </a:xfrm>
          <a:prstGeom prst="rect">
            <a:avLst/>
          </a:prstGeom>
        </p:spPr>
        <p:txBody>
          <a:bodyPr vert="horz" wrap="square" lIns="0" tIns="186436" rIns="0" bIns="0" rtlCol="0">
            <a:spAutoFit/>
          </a:bodyPr>
          <a:lstStyle/>
          <a:p>
            <a:pPr marL="11404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3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01851"/>
            <a:ext cx="7921625" cy="499303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00" b="1" dirty="0">
                <a:latin typeface="Times New Roman"/>
                <a:cs typeface="Times New Roman"/>
              </a:rPr>
              <a:t>Summary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Week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lang="en-IN" sz="1600" b="1" spc="-25" dirty="0">
                <a:latin typeface="Times New Roman"/>
                <a:cs typeface="Times New Roman"/>
              </a:rPr>
              <a:t>3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Learning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Learned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SQL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fundamentals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SELECT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statements,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Primary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Keys,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constraints.</a:t>
            </a: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Understood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filter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retrieve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specific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records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efficiently.</a:t>
            </a: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Performed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aggregation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SUM(),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COUNT(),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AVG(),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MIN(),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MAX().</a:t>
            </a: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Learned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summarizing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categories.</a:t>
            </a: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Practiced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various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joins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JOIN,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JOIN,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RIGHT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JOIN,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FULL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JOIN.</a:t>
            </a:r>
            <a:endParaRPr sz="1600" dirty="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Char char="•"/>
              <a:tabLst>
                <a:tab pos="74930" algn="l"/>
              </a:tabLst>
            </a:pPr>
            <a:r>
              <a:rPr sz="1600" dirty="0">
                <a:latin typeface="Times New Roman"/>
                <a:cs typeface="Times New Roman"/>
              </a:rPr>
              <a:t>Learned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CASE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statements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implementing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conditional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SQL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queries.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endParaRPr lang="en-IN" sz="1600" b="1" dirty="0">
              <a:latin typeface="Times New Roman"/>
              <a:cs typeface="Times New Roman"/>
            </a:endParaRP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Outcome: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strong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foundation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SQL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retrieval,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design,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query optimization,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essential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skills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 Engineering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 </a:t>
            </a:r>
            <a:r>
              <a:rPr sz="1600" spc="-10" dirty="0">
                <a:latin typeface="Times New Roman"/>
                <a:cs typeface="Times New Roman"/>
              </a:rPr>
              <a:t>Analytics.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 descr="SQL Database (generic) | Microsoft Azure Colo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2697" y="294789"/>
            <a:ext cx="1069999" cy="13693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BAA673-0DAB-5B2B-E246-E43D0BE1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1678F45-9091-46D2-AC3B-634803F60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9740" y="421893"/>
            <a:ext cx="8531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Introduction/</a:t>
            </a:r>
            <a:r>
              <a:rPr sz="2800" spc="-25" dirty="0"/>
              <a:t> </a:t>
            </a:r>
            <a:r>
              <a:rPr sz="2800" dirty="0"/>
              <a:t>Training</a:t>
            </a:r>
            <a:r>
              <a:rPr sz="2800" spc="-55" dirty="0"/>
              <a:t> </a:t>
            </a:r>
            <a:r>
              <a:rPr sz="2800" spc="-10" dirty="0"/>
              <a:t>Description</a:t>
            </a:r>
            <a:r>
              <a:rPr lang="en-IN" sz="2800" spc="-10" dirty="0"/>
              <a:t> (After Switching)  </a:t>
            </a:r>
            <a:endParaRPr sz="2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A26D64-F3E4-D068-3602-0B28FF6E3D7F}"/>
              </a:ext>
            </a:extLst>
          </p:cNvPr>
          <p:cNvSpPr txBox="1"/>
          <p:nvPr/>
        </p:nvSpPr>
        <p:spPr>
          <a:xfrm>
            <a:off x="459740" y="1077402"/>
            <a:ext cx="8224520" cy="4443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Company: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lang="en-IN" sz="1800" spc="-45" dirty="0">
                <a:latin typeface="Times New Roman"/>
                <a:cs typeface="Times New Roman"/>
              </a:rPr>
              <a:t>Quest Global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800" b="1" dirty="0">
                <a:latin typeface="Times New Roman"/>
                <a:cs typeface="Times New Roman"/>
              </a:rPr>
              <a:t>Mode: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lang="en-IN" sz="1800" dirty="0" err="1">
                <a:latin typeface="Times New Roman"/>
                <a:cs typeface="Times New Roman"/>
              </a:rPr>
              <a:t>ffline</a:t>
            </a:r>
            <a:endParaRPr sz="1800" dirty="0">
              <a:latin typeface="Times New Roman"/>
              <a:cs typeface="Times New Roman"/>
            </a:endParaRP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Training: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Internship Program focused on developing analytical,</a:t>
            </a: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visualization, and business intelligence skills through practical assignments and real</a:t>
            </a:r>
          </a:p>
          <a:p>
            <a:pPr marL="355600" marR="6985" indent="-342900" algn="l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datasets.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Objective: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practical Data Analytics skills and gain hands-on experience in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analysis, visualization, and business reporting for data-driven decision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making.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sz="1800" b="1" dirty="0">
                <a:latin typeface="Times New Roman"/>
                <a:cs typeface="Times New Roman"/>
              </a:rPr>
              <a:t>Domain</a:t>
            </a:r>
            <a:r>
              <a:rPr sz="1800" b="1" spc="4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4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Tools:</a:t>
            </a:r>
            <a:r>
              <a:rPr lang="en-IN" b="1" spc="47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Excel, SQL, Python, Power BI, Data Visualization,</a:t>
            </a:r>
          </a:p>
          <a:p>
            <a:pPr marL="355600" marR="6985" indent="-342900">
              <a:lnSpc>
                <a:spcPct val="150100"/>
              </a:lnSpc>
              <a:spcBef>
                <a:spcPts val="4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Intelligence, Statistical Analysis</a:t>
            </a:r>
            <a:r>
              <a:rPr lang="en-IN" dirty="0"/>
              <a:t>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3319AE-EAD6-1D12-D90E-253B9A42A55D}"/>
              </a:ext>
            </a:extLst>
          </p:cNvPr>
          <p:cNvSpPr txBox="1"/>
          <p:nvPr/>
        </p:nvSpPr>
        <p:spPr>
          <a:xfrm>
            <a:off x="436371" y="5608864"/>
            <a:ext cx="8094981" cy="123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Outcomes: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project experience, industry exposure, dashboard development</a:t>
            </a: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business insight generation, and Certificate of Completion.</a:t>
            </a: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1231900" algn="l"/>
                <a:tab pos="2283460" algn="l"/>
                <a:tab pos="3083560" algn="l"/>
              </a:tabLst>
            </a:pPr>
            <a:r>
              <a:rPr sz="1800" b="1" dirty="0">
                <a:latin typeface="Times New Roman"/>
                <a:cs typeface="Times New Roman"/>
              </a:rPr>
              <a:t>Duration: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lang="en-IN" spc="-5" dirty="0">
                <a:latin typeface="Times New Roman"/>
                <a:cs typeface="Times New Roman"/>
              </a:rPr>
              <a:t>01</a:t>
            </a:r>
            <a:r>
              <a:rPr lang="en-IN" sz="180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June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2026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Times New Roman"/>
                <a:cs typeface="Times New Roman"/>
              </a:rPr>
              <a:t>30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lang="en-IN" sz="1800" spc="-15" dirty="0">
                <a:latin typeface="Times New Roman"/>
                <a:cs typeface="Times New Roman"/>
              </a:rPr>
              <a:t>Aug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2026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0AA8CFD-4D5E-0826-D214-63AF7D9451E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5BA16-BD0F-1D0F-88E4-38F7AEF4F8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989401"/>
            <a:ext cx="1584960" cy="8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5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95BD0E-90AA-9DF3-B345-340068AD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C96CAF4-67C2-E581-807D-F163678B5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7721" y="466470"/>
            <a:ext cx="5988557" cy="557589"/>
          </a:xfrm>
          <a:prstGeom prst="rect">
            <a:avLst/>
          </a:prstGeom>
        </p:spPr>
        <p:txBody>
          <a:bodyPr vert="horz" wrap="square" lIns="0" tIns="186436" rIns="0" bIns="0" rtlCol="0">
            <a:spAutoFit/>
          </a:bodyPr>
          <a:lstStyle/>
          <a:p>
            <a:pPr marL="11404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4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4A6A72-53D4-CB57-E9F7-CCA6E0613871}"/>
              </a:ext>
            </a:extLst>
          </p:cNvPr>
          <p:cNvSpPr txBox="1"/>
          <p:nvPr/>
        </p:nvSpPr>
        <p:spPr>
          <a:xfrm>
            <a:off x="535940" y="1301851"/>
            <a:ext cx="7921625" cy="52392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00" b="1" dirty="0">
                <a:latin typeface="Times New Roman"/>
                <a:cs typeface="Times New Roman"/>
              </a:rPr>
              <a:t>Summary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Week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lang="en-IN" sz="1600" b="1" spc="-25" dirty="0">
                <a:latin typeface="Times New Roman"/>
                <a:cs typeface="Times New Roman"/>
              </a:rPr>
              <a:t>4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Learning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endParaRPr sz="1600" dirty="0">
              <a:latin typeface="Times New Roman"/>
              <a:cs typeface="Times New Roman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transitioned from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InoBux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to Quest Global for further internship training and industry exposure.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Attended onboarding and orientation sessions to understand the company's work culture,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workflow, and technical expectations.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Explored the fundamentals of Data Analytics and its role in managing large-scale data pipelines and business data systems.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Worked with datasets to understand data preprocessing, validation, and quality assessment techniques.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Collaborated with mentors and peers to understand industry best practices in data management and analytics.</a:t>
            </a: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endParaRPr lang="en-IN" sz="1600" b="1" dirty="0">
              <a:latin typeface="Times New Roman"/>
              <a:cs typeface="Times New Roman"/>
            </a:endParaRP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Outcome: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strong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foundation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SQL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retrieval,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design,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query optimization,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essential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skills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 </a:t>
            </a:r>
            <a:r>
              <a:rPr sz="1600" spc="-10" dirty="0">
                <a:latin typeface="Times New Roman"/>
                <a:cs typeface="Times New Roman"/>
              </a:rPr>
              <a:t>Analytics.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6E461D0-2767-D09A-C70E-581B81A867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23A7D-DED5-26CC-67BB-07B6E3EE8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16894"/>
            <a:ext cx="1176507" cy="117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48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38475F-8F97-4E9F-3722-5F54E62C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75AF5A9-7097-3314-84F5-57623FFF1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7721" y="466470"/>
            <a:ext cx="5988557" cy="557589"/>
          </a:xfrm>
          <a:prstGeom prst="rect">
            <a:avLst/>
          </a:prstGeom>
        </p:spPr>
        <p:txBody>
          <a:bodyPr vert="horz" wrap="square" lIns="0" tIns="186436" rIns="0" bIns="0" rtlCol="0">
            <a:spAutoFit/>
          </a:bodyPr>
          <a:lstStyle/>
          <a:p>
            <a:pPr marL="11404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5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D5E22F-13CF-F478-F4A1-CFB735A29B78}"/>
              </a:ext>
            </a:extLst>
          </p:cNvPr>
          <p:cNvSpPr txBox="1"/>
          <p:nvPr/>
        </p:nvSpPr>
        <p:spPr>
          <a:xfrm>
            <a:off x="535940" y="1301851"/>
            <a:ext cx="7921625" cy="499303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00" b="1" dirty="0">
                <a:latin typeface="Times New Roman"/>
                <a:cs typeface="Times New Roman"/>
              </a:rPr>
              <a:t>Summary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Week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lang="en-IN" sz="1600" b="1" spc="-25" dirty="0">
                <a:latin typeface="Times New Roman"/>
                <a:cs typeface="Times New Roman"/>
              </a:rPr>
              <a:t>5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Learning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endParaRPr sz="1600" dirty="0">
              <a:latin typeface="Times New Roman"/>
              <a:cs typeface="Times New Roman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Learned advanced dashboard development and business intelligence reporting using Excel.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Worked with large coffee sales datasets containing customer, product, order, and country-level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multiple datasets using common keys to create meaningful business reports.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interactive dashboards using Pivot Tables, Pivot Charts, and slicers.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 across different countries, coffee types, and customer segments.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a comprehensive Coffee Sales Dashboard project for business performance monitoring.</a:t>
            </a: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endParaRPr lang="en-IN" sz="1600" b="1" dirty="0">
              <a:latin typeface="Times New Roman"/>
              <a:cs typeface="Times New Roman"/>
            </a:endParaRPr>
          </a:p>
          <a:p>
            <a:pPr marL="5080" marR="236220">
              <a:lnSpc>
                <a:spcPct val="150000"/>
              </a:lnSpc>
              <a:spcBef>
                <a:spcPts val="5"/>
              </a:spcBef>
              <a:buSzPct val="92857"/>
              <a:tabLst>
                <a:tab pos="74930" algn="l"/>
              </a:tabLst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Outcome: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expertise in dashboard creation, business intelligence reporting, customer analytics, sales trend analysis, and interactive data visualization using Excel.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27BE7DD-545A-131A-0BF5-788840B9E8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68A4C-EF48-7264-F1DF-903ADCF7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926" y="381000"/>
            <a:ext cx="1927036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00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Project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work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done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till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963" y="1468576"/>
            <a:ext cx="7884160" cy="5389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6060" indent="201295">
              <a:lnSpc>
                <a:spcPct val="120600"/>
              </a:lnSpc>
              <a:spcBef>
                <a:spcPts val="100"/>
              </a:spcBef>
              <a:buAutoNum type="arabicPeriod"/>
              <a:tabLst>
                <a:tab pos="213995" algn="l"/>
              </a:tabLst>
            </a:pP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Exploration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Cleaning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using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Pandas 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 marR="2766060">
              <a:lnSpc>
                <a:spcPct val="120600"/>
              </a:lnSpc>
              <a:spcBef>
                <a:spcPts val="100"/>
              </a:spcBef>
              <a:tabLst>
                <a:tab pos="21399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spcBef>
                <a:spcPts val="409"/>
              </a:spcBef>
              <a:buSzPct val="11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Imported and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world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Pandas.</a:t>
            </a:r>
            <a:endParaRPr sz="1600" dirty="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spcBef>
                <a:spcPts val="395"/>
              </a:spcBef>
              <a:buSzPct val="11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Performed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cleaning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handling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removing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duplicates.</a:t>
            </a:r>
            <a:endParaRPr sz="1600" dirty="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spcBef>
                <a:spcPts val="400"/>
              </a:spcBef>
              <a:buSzPct val="11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Applied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filtering,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grouping,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transformation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techniques.</a:t>
            </a:r>
            <a:endParaRPr sz="1600" dirty="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spcBef>
                <a:spcPts val="405"/>
              </a:spcBef>
              <a:buSzPct val="11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Generated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cleaned</a:t>
            </a:r>
            <a:r>
              <a:rPr sz="1600" spc="-10" dirty="0">
                <a:latin typeface="Times New Roman"/>
                <a:cs typeface="Times New Roman"/>
              </a:rPr>
              <a:t> dataset.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endParaRPr lang="en-IN" sz="16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b="1" dirty="0">
                <a:latin typeface="Times New Roman"/>
                <a:cs typeface="Times New Roman"/>
              </a:rPr>
              <a:t>Technologies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Used: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Python,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Pandas,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CSV</a:t>
            </a:r>
            <a:endParaRPr lang="en-IN" sz="160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sz="1600" b="1" dirty="0">
                <a:latin typeface="Times New Roman"/>
                <a:cs typeface="Times New Roman"/>
              </a:rPr>
              <a:t>2.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SQL-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Project 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50"/>
              </a:spcBef>
              <a:buSzPct val="1125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Queried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SQL.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1125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filtering,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aggregation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operations.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SzPct val="1125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Solved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business-</a:t>
            </a:r>
            <a:r>
              <a:rPr sz="1600" dirty="0">
                <a:latin typeface="Times New Roman"/>
                <a:cs typeface="Times New Roman"/>
              </a:rPr>
              <a:t>oriented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questions.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1125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Generated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meaningful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relational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data.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endParaRPr lang="en-IN" sz="16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b="1" dirty="0">
                <a:latin typeface="Times New Roman"/>
                <a:cs typeface="Times New Roman"/>
              </a:rPr>
              <a:t>Technologies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Used: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SQL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endParaRPr lang="en-IN" sz="1600" b="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6E579-1AF8-16A7-78BF-793731DB0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099283"/>
            <a:ext cx="2245152" cy="12656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91F802-C915-755B-1579-7CBC43FD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EDCAC94-3F8E-A9D2-6F7D-266D971F4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Project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work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done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till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now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70831C6-AB7A-EED2-28F2-8D542944973C}"/>
              </a:ext>
            </a:extLst>
          </p:cNvPr>
          <p:cNvSpPr txBox="1"/>
          <p:nvPr/>
        </p:nvSpPr>
        <p:spPr>
          <a:xfrm>
            <a:off x="650238" y="1352448"/>
            <a:ext cx="10932162" cy="54586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6060">
              <a:lnSpc>
                <a:spcPct val="120600"/>
              </a:lnSpc>
              <a:spcBef>
                <a:spcPts val="100"/>
              </a:spcBef>
              <a:tabLst>
                <a:tab pos="21399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Sales Data Analysis Dashboard</a:t>
            </a:r>
          </a:p>
          <a:p>
            <a:pPr marL="12700" marR="2766060">
              <a:lnSpc>
                <a:spcPct val="120600"/>
              </a:lnSpc>
              <a:spcBef>
                <a:spcPts val="100"/>
              </a:spcBef>
              <a:tabLst>
                <a:tab pos="21399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Description: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data from multiple business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formatting, and preprocessing using Excel.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Pivot Tables and Pivot Charts for sales trend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actionable insights for revenue growth and performance tracking. 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Excel, Pivot Tables, Pivot Charts, Dashboarding</a:t>
            </a: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endParaRPr lang="en-IN" sz="1600" b="1" dirty="0">
              <a:latin typeface="Times New Roman"/>
              <a:cs typeface="Times New Roman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lang="en-IN" sz="1600" b="1" dirty="0">
                <a:latin typeface="Times New Roman"/>
                <a:cs typeface="Times New Roman"/>
              </a:rPr>
              <a:t>4</a:t>
            </a:r>
            <a:r>
              <a:rPr sz="1600" b="1" dirty="0">
                <a:latin typeface="Times New Roman"/>
                <a:cs typeface="Times New Roman"/>
              </a:rPr>
              <a:t>.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Coffee Sales Dashboard Project</a:t>
            </a: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sz="1600" b="1" spc="-10" dirty="0">
                <a:latin typeface="Times New Roman"/>
                <a:cs typeface="Times New Roman"/>
              </a:rPr>
              <a:t>Description: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298450" marR="3591560" indent="-285750">
              <a:lnSpc>
                <a:spcPts val="233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coffee sales data across different countries and customer segments.</a:t>
            </a:r>
          </a:p>
          <a:p>
            <a:pPr marL="298450" marR="3591560" indent="-285750">
              <a:lnSpc>
                <a:spcPts val="233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customer, product, and order datasets for comprehensive analysis.</a:t>
            </a:r>
          </a:p>
          <a:p>
            <a:pPr marL="298450" marR="3591560" indent="-285750">
              <a:lnSpc>
                <a:spcPts val="233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top-performing products, regions, and customers.</a:t>
            </a:r>
          </a:p>
          <a:p>
            <a:pPr marL="298450" marR="3591560" indent="-285750">
              <a:lnSpc>
                <a:spcPts val="233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Excel, Data Visualization, Dashboard Design</a:t>
            </a: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591560">
              <a:lnSpc>
                <a:spcPts val="2330"/>
              </a:lnSpc>
              <a:spcBef>
                <a:spcPts val="135"/>
              </a:spcBef>
            </a:pPr>
            <a:r>
              <a:rPr lang="en-IN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Link: </a:t>
            </a:r>
          </a:p>
          <a:p>
            <a:pPr marL="298450" marR="3591560" indent="-285750">
              <a:lnSpc>
                <a:spcPts val="233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FCDF08B-036E-89B4-F05B-4D1C1B69392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479280" y="6400800"/>
            <a:ext cx="283719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10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7934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04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Remarks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2855" y="1524000"/>
            <a:ext cx="6447155" cy="4570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phase.</a:t>
            </a: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Weeks</a:t>
            </a:r>
            <a:endParaRPr sz="16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6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Stipend: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1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Analytics, Excel, SQL, and Python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real-world datasets.</a:t>
            </a: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endParaRPr lang="en-IN"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valuable guidance and mentorship.</a:t>
            </a:r>
            <a:endParaRPr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internship.</a:t>
            </a: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Outcome: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practical knowledge in Data Analytics and industry-based project development.</a:t>
            </a: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lang="en-IN" spc="-20" dirty="0"/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AEE24-20E2-AC97-6C42-EA2CCC70F87E}"/>
              </a:ext>
            </a:extLst>
          </p:cNvPr>
          <p:cNvSpPr txBox="1"/>
          <p:nvPr/>
        </p:nvSpPr>
        <p:spPr>
          <a:xfrm>
            <a:off x="8458200" y="6348524"/>
            <a:ext cx="381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+mn-lt"/>
              </a:rPr>
              <a:t>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AB7B04-63C7-5BD8-2C0C-786D550E97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13" y="384364"/>
            <a:ext cx="1423987" cy="15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1273</Words>
  <Application>Microsoft Office PowerPoint</Application>
  <PresentationFormat>On-screen Show (4:3)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Office Theme</vt:lpstr>
      <vt:lpstr>Data Analytics  InoBux</vt:lpstr>
      <vt:lpstr>Introduction/ Training Description</vt:lpstr>
      <vt:lpstr>Summary of Week 1 Learning</vt:lpstr>
      <vt:lpstr>Summary of Week 2 Learning</vt:lpstr>
      <vt:lpstr>Summary of Week 3 Learning</vt:lpstr>
      <vt:lpstr>Introduction/ Training Description (After Switching)  </vt:lpstr>
      <vt:lpstr>Summary of Week 4 Learning</vt:lpstr>
      <vt:lpstr>Summary of Week 5 Learning</vt:lpstr>
      <vt:lpstr>Project work done till now</vt:lpstr>
      <vt:lpstr>Project work done till now</vt:lpstr>
      <vt:lpstr>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Anju Jangid</dc:creator>
  <cp:lastModifiedBy>Sonu Gupta</cp:lastModifiedBy>
  <cp:revision>10</cp:revision>
  <dcterms:created xsi:type="dcterms:W3CDTF">2026-06-15T03:56:21Z</dcterms:created>
  <dcterms:modified xsi:type="dcterms:W3CDTF">2026-06-15T05:24:54Z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2026-06-04T00:00:00Z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2026-06-15T00:00:00Z</vt:filetime>
  </property>
  <property fmtid="{D5CDD505-2E9C-101B-9397-08002B2CF9AE}" pid="6" name="Producer">
    <vt:lpwstr>Microsoft® PowerPoint® 2021</vt:lpwstr>
  </property>
</Properties>
</file>